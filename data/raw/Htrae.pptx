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60"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6C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10" d="100"/>
          <a:sy n="110" d="100"/>
        </p:scale>
        <p:origin x="63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16B5E-7FEC-BA17-699C-E6607C7FFE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007403-E3C0-CF52-CFF9-BC1914D56C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634064-C097-E298-9EFE-F32DB09DE217}"/>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A2E557C7-66F9-291F-BAEC-D39F9F086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98758-A247-587D-9C64-2411B0BA7667}"/>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446072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99ED-BAD8-5C13-5E52-EA400AA7C7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98228-AE9D-59F7-6604-966A04E1BE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3BD60-8410-BE10-176E-07A61D6EF3C5}"/>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8036B5A9-EF0A-183E-E66E-440D73DBC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EB15C-E4E3-6735-00BB-582300241EEA}"/>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3332335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F3FCF-47D1-CB15-F389-36BF7D2B95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6C199F-1B87-2D58-CCC8-D59FBC10B2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3931FC-AC09-C4D0-C5DA-6A1807A36C1F}"/>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91677957-E45D-2326-7C3B-49D41AA87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31F6E-54E2-D444-4192-21B819EB1DBB}"/>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3787448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624A5-0DC6-9A34-B2DF-BCF1D70D30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6CD86D-2EA0-40D0-3029-A0BBE325A7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F20E29-953D-E9E6-5A92-BC5833A7F1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FDB236-E16F-DC57-6D92-F68429F775E2}"/>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6" name="Footer Placeholder 5">
            <a:extLst>
              <a:ext uri="{FF2B5EF4-FFF2-40B4-BE49-F238E27FC236}">
                <a16:creationId xmlns:a16="http://schemas.microsoft.com/office/drawing/2014/main" id="{1E99A456-B4B7-20BF-C2BC-9E212DAAAE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CB3856-29B0-45DE-D035-F6573B886D9C}"/>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3952903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82E1A-A043-9182-921A-7A3345B8AD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875CE3-BE92-0879-501F-DD35B734F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86584E-BB00-B3CB-020E-AF58DD42BF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19C9C-8E8B-C90E-C65F-02231F3635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47ED45-1082-B69D-6CC9-E45EB0BB12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694B83-116F-22AF-DFED-BB0E98B73060}"/>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8" name="Footer Placeholder 7">
            <a:extLst>
              <a:ext uri="{FF2B5EF4-FFF2-40B4-BE49-F238E27FC236}">
                <a16:creationId xmlns:a16="http://schemas.microsoft.com/office/drawing/2014/main" id="{3501AD9A-F3FC-2268-2EE8-5C1261C7B3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3BCCD4-39AA-5846-4F36-DCC47ECEBBFE}"/>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2425538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31F58-C692-40BD-3668-1BE1B28D5E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B3F3D1-DC3E-0C5D-E077-3481DE7511FF}"/>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4" name="Footer Placeholder 3">
            <a:extLst>
              <a:ext uri="{FF2B5EF4-FFF2-40B4-BE49-F238E27FC236}">
                <a16:creationId xmlns:a16="http://schemas.microsoft.com/office/drawing/2014/main" id="{2EBD3F2B-F616-242B-380F-83AAFF9136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70F15C-D86D-2228-66D2-1A69572CE886}"/>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356536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E6E6E9-7A01-BFDF-D638-593DDA2BECBA}"/>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3" name="Footer Placeholder 2">
            <a:extLst>
              <a:ext uri="{FF2B5EF4-FFF2-40B4-BE49-F238E27FC236}">
                <a16:creationId xmlns:a16="http://schemas.microsoft.com/office/drawing/2014/main" id="{AEF1DDA5-BAD8-A849-0D3E-259E0F56AF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7FF82F-8458-6E3B-3054-205BCA9401A4}"/>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2827955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D8BC-9FAD-BA35-8412-F59B043AED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287296-091C-160D-41CE-564A9E77F6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BCB800-6425-DDD6-AC22-09E858152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C41F9-4E1F-2E07-FA4C-ABE299F5CB47}"/>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6" name="Footer Placeholder 5">
            <a:extLst>
              <a:ext uri="{FF2B5EF4-FFF2-40B4-BE49-F238E27FC236}">
                <a16:creationId xmlns:a16="http://schemas.microsoft.com/office/drawing/2014/main" id="{FD20A5CF-48DA-E1FC-1604-7EF93E32EA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40F139-DD07-6591-8F3E-D600EDD5163C}"/>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615581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D0514-086D-7FDC-8ED7-FE2BCE8648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FA4300-EE82-ACC8-498E-EF469EB5C8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0AC9E9-850C-8EC2-F8B3-3BCBE16F8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954298-69C9-F7E5-EE93-DEDF7733BDEA}"/>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6" name="Footer Placeholder 5">
            <a:extLst>
              <a:ext uri="{FF2B5EF4-FFF2-40B4-BE49-F238E27FC236}">
                <a16:creationId xmlns:a16="http://schemas.microsoft.com/office/drawing/2014/main" id="{8FA830B7-1E33-D330-AD00-F8EFEEA9C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098062-9C8F-74AF-6F5C-4D9E74CB8D87}"/>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1776785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06276-425B-1E51-458E-F1FD33A1B7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BE1B83-B84B-45B9-AA05-6975A6D527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A729E5-BA7C-BA9B-3C35-9022C4C3F45A}"/>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0B2D675D-1900-E3D4-225C-0ACCA72B7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90A38-2578-CCD2-9DBD-CAA5CCC90051}"/>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3359769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6A1E16-DB84-EF66-34E8-47501CCB13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F656FE-BE99-5E66-905D-F44035807A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A72DBB-A008-0D7D-9353-DC227DB70E78}"/>
              </a:ext>
            </a:extLst>
          </p:cNvPr>
          <p:cNvSpPr>
            <a:spLocks noGrp="1"/>
          </p:cNvSpPr>
          <p:nvPr>
            <p:ph type="dt" sz="half" idx="10"/>
          </p:nvPr>
        </p:nvSpPr>
        <p:spPr/>
        <p:txBody>
          <a:body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5D2D3C54-2A4D-14D4-F207-FF618C5E8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33238-3244-42E9-0C8B-711FFA7976F3}"/>
              </a:ext>
            </a:extLst>
          </p:cNvPr>
          <p:cNvSpPr>
            <a:spLocks noGrp="1"/>
          </p:cNvSpPr>
          <p:nvPr>
            <p:ph type="sldNum" sz="quarter" idx="12"/>
          </p:nvPr>
        </p:nvSpPr>
        <p:spPr/>
        <p:txBody>
          <a:bodyPr/>
          <a:lstStyle/>
          <a:p>
            <a:fld id="{2884D528-13BD-4B16-AEA4-70D8DE34C8D0}" type="slidenum">
              <a:rPr lang="en-US" smtClean="0"/>
              <a:t>‹#›</a:t>
            </a:fld>
            <a:endParaRPr lang="en-US"/>
          </a:p>
        </p:txBody>
      </p:sp>
    </p:spTree>
    <p:extLst>
      <p:ext uri="{BB962C8B-B14F-4D97-AF65-F5344CB8AC3E}">
        <p14:creationId xmlns:p14="http://schemas.microsoft.com/office/powerpoint/2010/main" val="218842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DB4544-8973-41F2-1159-A00A1E782F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A8598B-746B-D840-3D10-410D7D7DFE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9843E-9B2E-F289-A3F1-5C79ACA186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7059F-F355-46C1-AE8E-DCC710663470}" type="datetimeFigureOut">
              <a:rPr lang="en-US" smtClean="0"/>
              <a:t>5/23/2026</a:t>
            </a:fld>
            <a:endParaRPr lang="en-US"/>
          </a:p>
        </p:txBody>
      </p:sp>
      <p:sp>
        <p:nvSpPr>
          <p:cNvPr id="5" name="Footer Placeholder 4">
            <a:extLst>
              <a:ext uri="{FF2B5EF4-FFF2-40B4-BE49-F238E27FC236}">
                <a16:creationId xmlns:a16="http://schemas.microsoft.com/office/drawing/2014/main" id="{E68EC33E-74DC-F2B8-DFDC-73DAA09B0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4A3F7A-D192-A94D-D962-51BC76CA1C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84D528-13BD-4B16-AEA4-70D8DE34C8D0}" type="slidenum">
              <a:rPr lang="en-US" smtClean="0"/>
              <a:t>‹#›</a:t>
            </a:fld>
            <a:endParaRPr lang="en-US"/>
          </a:p>
        </p:txBody>
      </p:sp>
    </p:spTree>
    <p:extLst>
      <p:ext uri="{BB962C8B-B14F-4D97-AF65-F5344CB8AC3E}">
        <p14:creationId xmlns:p14="http://schemas.microsoft.com/office/powerpoint/2010/main" val="4040427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23C50B-3094-3784-05F3-5A2BCF9315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7387771" cy="6862859"/>
          </a:xfrm>
          <a:prstGeom prst="rect">
            <a:avLst/>
          </a:prstGeom>
        </p:spPr>
      </p:pic>
      <p:sp>
        <p:nvSpPr>
          <p:cNvPr id="5" name="TextBox 4">
            <a:extLst>
              <a:ext uri="{FF2B5EF4-FFF2-40B4-BE49-F238E27FC236}">
                <a16:creationId xmlns:a16="http://schemas.microsoft.com/office/drawing/2014/main" id="{8BBCB84E-609F-CDC5-2B5A-0B5DB2350A4A}"/>
              </a:ext>
            </a:extLst>
          </p:cNvPr>
          <p:cNvSpPr txBox="1"/>
          <p:nvPr/>
        </p:nvSpPr>
        <p:spPr>
          <a:xfrm>
            <a:off x="7565623" y="0"/>
            <a:ext cx="3750197" cy="923330"/>
          </a:xfrm>
          <a:prstGeom prst="rect">
            <a:avLst/>
          </a:prstGeom>
          <a:noFill/>
        </p:spPr>
        <p:txBody>
          <a:bodyPr wrap="square" rtlCol="0">
            <a:spAutoFit/>
          </a:bodyPr>
          <a:lstStyle/>
          <a:p>
            <a:r>
              <a:rPr lang="en-US" sz="5400" dirty="0">
                <a:latin typeface="Imprint MT Shadow" panose="04020605060303030202" pitchFamily="82" charset="0"/>
              </a:rPr>
              <a:t>HTRÆ</a:t>
            </a:r>
          </a:p>
        </p:txBody>
      </p:sp>
    </p:spTree>
    <p:extLst>
      <p:ext uri="{BB962C8B-B14F-4D97-AF65-F5344CB8AC3E}">
        <p14:creationId xmlns:p14="http://schemas.microsoft.com/office/powerpoint/2010/main" val="350364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9A2B9B-B228-8024-744F-10BE9160B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82540" cy="6858000"/>
          </a:xfrm>
          <a:prstGeom prst="rect">
            <a:avLst/>
          </a:prstGeom>
        </p:spPr>
      </p:pic>
      <p:sp>
        <p:nvSpPr>
          <p:cNvPr id="6" name="TextBox 5">
            <a:extLst>
              <a:ext uri="{FF2B5EF4-FFF2-40B4-BE49-F238E27FC236}">
                <a16:creationId xmlns:a16="http://schemas.microsoft.com/office/drawing/2014/main" id="{B8BE1675-859E-B763-CB37-FC8D3BD946CE}"/>
              </a:ext>
            </a:extLst>
          </p:cNvPr>
          <p:cNvSpPr txBox="1"/>
          <p:nvPr/>
        </p:nvSpPr>
        <p:spPr>
          <a:xfrm rot="19090550">
            <a:off x="4957660" y="2150806"/>
            <a:ext cx="1234911" cy="261610"/>
          </a:xfrm>
          <a:prstGeom prst="rect">
            <a:avLst/>
          </a:prstGeom>
          <a:noFill/>
        </p:spPr>
        <p:txBody>
          <a:bodyPr wrap="square" rtlCol="0">
            <a:spAutoFit/>
          </a:bodyPr>
          <a:lstStyle/>
          <a:p>
            <a:r>
              <a:rPr lang="en-US" sz="1100" dirty="0">
                <a:solidFill>
                  <a:srgbClr val="3E6CC0"/>
                </a:solidFill>
                <a:latin typeface="Gloucester MT Extra Condensed" panose="02030808020601010101" pitchFamily="18" charset="0"/>
              </a:rPr>
              <a:t>Sea of Dragons</a:t>
            </a:r>
          </a:p>
        </p:txBody>
      </p:sp>
      <p:sp>
        <p:nvSpPr>
          <p:cNvPr id="7" name="TextBox 6">
            <a:extLst>
              <a:ext uri="{FF2B5EF4-FFF2-40B4-BE49-F238E27FC236}">
                <a16:creationId xmlns:a16="http://schemas.microsoft.com/office/drawing/2014/main" id="{02FFA986-BB86-133B-C3CD-6BC267688EEF}"/>
              </a:ext>
            </a:extLst>
          </p:cNvPr>
          <p:cNvSpPr txBox="1"/>
          <p:nvPr/>
        </p:nvSpPr>
        <p:spPr>
          <a:xfrm>
            <a:off x="3305969" y="3012679"/>
            <a:ext cx="977900" cy="461665"/>
          </a:xfrm>
          <a:prstGeom prst="rect">
            <a:avLst/>
          </a:prstGeom>
          <a:noFill/>
        </p:spPr>
        <p:txBody>
          <a:bodyPr wrap="square" rtlCol="0">
            <a:spAutoFit/>
          </a:bodyPr>
          <a:lstStyle/>
          <a:p>
            <a:r>
              <a:rPr lang="en-US" sz="2400" dirty="0" err="1">
                <a:solidFill>
                  <a:srgbClr val="FFC000"/>
                </a:solidFill>
                <a:latin typeface="Gloucester MT Extra Condensed" panose="02030808020601010101" pitchFamily="18" charset="0"/>
              </a:rPr>
              <a:t>Gerconia</a:t>
            </a:r>
            <a:endParaRPr lang="en-US" sz="2400" dirty="0">
              <a:solidFill>
                <a:srgbClr val="FFC000"/>
              </a:solidFill>
              <a:latin typeface="Gloucester MT Extra Condensed" panose="02030808020601010101" pitchFamily="18" charset="0"/>
            </a:endParaRPr>
          </a:p>
        </p:txBody>
      </p:sp>
      <p:sp>
        <p:nvSpPr>
          <p:cNvPr id="8" name="TextBox 7">
            <a:extLst>
              <a:ext uri="{FF2B5EF4-FFF2-40B4-BE49-F238E27FC236}">
                <a16:creationId xmlns:a16="http://schemas.microsoft.com/office/drawing/2014/main" id="{5E39512A-B20B-B4D3-7C81-248A6825EB81}"/>
              </a:ext>
            </a:extLst>
          </p:cNvPr>
          <p:cNvSpPr txBox="1"/>
          <p:nvPr/>
        </p:nvSpPr>
        <p:spPr>
          <a:xfrm>
            <a:off x="6305550" y="2712256"/>
            <a:ext cx="551369" cy="369332"/>
          </a:xfrm>
          <a:prstGeom prst="rect">
            <a:avLst/>
          </a:prstGeom>
          <a:noFill/>
        </p:spPr>
        <p:txBody>
          <a:bodyPr wrap="none" rtlCol="0">
            <a:spAutoFit/>
          </a:bodyPr>
          <a:lstStyle/>
          <a:p>
            <a:r>
              <a:rPr lang="en-US" dirty="0">
                <a:solidFill>
                  <a:srgbClr val="FFC000"/>
                </a:solidFill>
                <a:latin typeface="Gloucester MT Extra Condensed" panose="02030808020601010101" pitchFamily="18" charset="0"/>
              </a:rPr>
              <a:t>Kyros</a:t>
            </a:r>
          </a:p>
        </p:txBody>
      </p:sp>
      <p:sp>
        <p:nvSpPr>
          <p:cNvPr id="9" name="TextBox 8">
            <a:extLst>
              <a:ext uri="{FF2B5EF4-FFF2-40B4-BE49-F238E27FC236}">
                <a16:creationId xmlns:a16="http://schemas.microsoft.com/office/drawing/2014/main" id="{ACF78A6A-AC66-1897-E101-195D35880293}"/>
              </a:ext>
            </a:extLst>
          </p:cNvPr>
          <p:cNvSpPr txBox="1"/>
          <p:nvPr/>
        </p:nvSpPr>
        <p:spPr>
          <a:xfrm>
            <a:off x="4723957" y="3181350"/>
            <a:ext cx="739498" cy="369332"/>
          </a:xfrm>
          <a:prstGeom prst="rect">
            <a:avLst/>
          </a:prstGeom>
          <a:noFill/>
        </p:spPr>
        <p:txBody>
          <a:bodyPr wrap="none" rtlCol="0">
            <a:spAutoFit/>
          </a:bodyPr>
          <a:lstStyle/>
          <a:p>
            <a:r>
              <a:rPr lang="en-US" dirty="0" err="1">
                <a:solidFill>
                  <a:srgbClr val="FFC000"/>
                </a:solidFill>
                <a:latin typeface="Gloucester MT Extra Condensed" panose="02030808020601010101" pitchFamily="18" charset="0"/>
              </a:rPr>
              <a:t>Radamle</a:t>
            </a:r>
            <a:endParaRPr lang="en-US" dirty="0">
              <a:solidFill>
                <a:srgbClr val="FFC000"/>
              </a:solidFill>
              <a:latin typeface="Gloucester MT Extra Condensed" panose="02030808020601010101" pitchFamily="18" charset="0"/>
            </a:endParaRPr>
          </a:p>
        </p:txBody>
      </p:sp>
      <p:sp>
        <p:nvSpPr>
          <p:cNvPr id="10" name="TextBox 9">
            <a:extLst>
              <a:ext uri="{FF2B5EF4-FFF2-40B4-BE49-F238E27FC236}">
                <a16:creationId xmlns:a16="http://schemas.microsoft.com/office/drawing/2014/main" id="{DEE13BDB-3B02-3039-258F-3207BA5B3E8C}"/>
              </a:ext>
            </a:extLst>
          </p:cNvPr>
          <p:cNvSpPr txBox="1"/>
          <p:nvPr/>
        </p:nvSpPr>
        <p:spPr>
          <a:xfrm rot="19090550">
            <a:off x="4402893" y="4239165"/>
            <a:ext cx="1234911" cy="261610"/>
          </a:xfrm>
          <a:prstGeom prst="rect">
            <a:avLst/>
          </a:prstGeom>
          <a:noFill/>
        </p:spPr>
        <p:txBody>
          <a:bodyPr wrap="square" rtlCol="0">
            <a:spAutoFit/>
          </a:bodyPr>
          <a:lstStyle/>
          <a:p>
            <a:r>
              <a:rPr lang="en-US" sz="1100" dirty="0">
                <a:solidFill>
                  <a:srgbClr val="3E6CC0"/>
                </a:solidFill>
                <a:latin typeface="Gloucester MT Extra Condensed" panose="02030808020601010101" pitchFamily="18" charset="0"/>
              </a:rPr>
              <a:t>Sea of </a:t>
            </a:r>
            <a:r>
              <a:rPr lang="en-US" sz="1100" dirty="0" err="1">
                <a:solidFill>
                  <a:srgbClr val="3E6CC0"/>
                </a:solidFill>
                <a:latin typeface="Gloucester MT Extra Condensed" panose="02030808020601010101" pitchFamily="18" charset="0"/>
              </a:rPr>
              <a:t>Syrvash</a:t>
            </a:r>
            <a:endParaRPr lang="en-US" sz="1100" dirty="0">
              <a:solidFill>
                <a:srgbClr val="3E6CC0"/>
              </a:solidFill>
              <a:latin typeface="Gloucester MT Extra Condensed" panose="02030808020601010101" pitchFamily="18" charset="0"/>
            </a:endParaRPr>
          </a:p>
        </p:txBody>
      </p:sp>
      <p:sp>
        <p:nvSpPr>
          <p:cNvPr id="11" name="TextBox 10">
            <a:extLst>
              <a:ext uri="{FF2B5EF4-FFF2-40B4-BE49-F238E27FC236}">
                <a16:creationId xmlns:a16="http://schemas.microsoft.com/office/drawing/2014/main" id="{89267032-9DEC-E6C5-C959-FBE3F8CCCDA4}"/>
              </a:ext>
            </a:extLst>
          </p:cNvPr>
          <p:cNvSpPr txBox="1"/>
          <p:nvPr/>
        </p:nvSpPr>
        <p:spPr>
          <a:xfrm rot="2793771">
            <a:off x="2526614" y="4185304"/>
            <a:ext cx="550151" cy="369332"/>
          </a:xfrm>
          <a:prstGeom prst="rect">
            <a:avLst/>
          </a:prstGeom>
          <a:noFill/>
        </p:spPr>
        <p:txBody>
          <a:bodyPr wrap="none" rtlCol="0">
            <a:spAutoFit/>
          </a:bodyPr>
          <a:lstStyle/>
          <a:p>
            <a:r>
              <a:rPr lang="en-US" dirty="0" err="1">
                <a:solidFill>
                  <a:srgbClr val="FFC000"/>
                </a:solidFill>
                <a:latin typeface="Gloucester MT Extra Condensed" panose="02030808020601010101" pitchFamily="18" charset="0"/>
              </a:rPr>
              <a:t>Nefeli</a:t>
            </a:r>
            <a:endParaRPr lang="en-US" dirty="0">
              <a:solidFill>
                <a:srgbClr val="FFC000"/>
              </a:solidFill>
              <a:latin typeface="Gloucester MT Extra Condensed" panose="02030808020601010101" pitchFamily="18" charset="0"/>
            </a:endParaRPr>
          </a:p>
        </p:txBody>
      </p:sp>
      <p:sp>
        <p:nvSpPr>
          <p:cNvPr id="13" name="TextBox 12">
            <a:extLst>
              <a:ext uri="{FF2B5EF4-FFF2-40B4-BE49-F238E27FC236}">
                <a16:creationId xmlns:a16="http://schemas.microsoft.com/office/drawing/2014/main" id="{52035CEC-FE06-B3EB-04DD-2C005CCE6F2B}"/>
              </a:ext>
            </a:extLst>
          </p:cNvPr>
          <p:cNvSpPr txBox="1"/>
          <p:nvPr/>
        </p:nvSpPr>
        <p:spPr>
          <a:xfrm>
            <a:off x="3424464" y="5651191"/>
            <a:ext cx="1265218" cy="369332"/>
          </a:xfrm>
          <a:prstGeom prst="rect">
            <a:avLst/>
          </a:prstGeom>
          <a:noFill/>
        </p:spPr>
        <p:txBody>
          <a:bodyPr wrap="none" rtlCol="0">
            <a:spAutoFit/>
          </a:bodyPr>
          <a:lstStyle/>
          <a:p>
            <a:r>
              <a:rPr lang="en-US" dirty="0" err="1">
                <a:solidFill>
                  <a:srgbClr val="FFC000"/>
                </a:solidFill>
                <a:latin typeface="Gloucester MT Extra Condensed" panose="02030808020601010101" pitchFamily="18" charset="0"/>
              </a:rPr>
              <a:t>Veimir</a:t>
            </a:r>
            <a:r>
              <a:rPr lang="en-US" dirty="0">
                <a:solidFill>
                  <a:srgbClr val="FFC000"/>
                </a:solidFill>
                <a:latin typeface="Gloucester MT Extra Condensed" panose="02030808020601010101" pitchFamily="18" charset="0"/>
              </a:rPr>
              <a:t> Ridgeland</a:t>
            </a:r>
          </a:p>
        </p:txBody>
      </p:sp>
      <p:sp>
        <p:nvSpPr>
          <p:cNvPr id="14" name="TextBox 13">
            <a:extLst>
              <a:ext uri="{FF2B5EF4-FFF2-40B4-BE49-F238E27FC236}">
                <a16:creationId xmlns:a16="http://schemas.microsoft.com/office/drawing/2014/main" id="{C519C398-E8A2-F00F-2680-57E6FB46831F}"/>
              </a:ext>
            </a:extLst>
          </p:cNvPr>
          <p:cNvSpPr txBox="1"/>
          <p:nvPr/>
        </p:nvSpPr>
        <p:spPr>
          <a:xfrm>
            <a:off x="4723957" y="5413188"/>
            <a:ext cx="1234911" cy="261610"/>
          </a:xfrm>
          <a:prstGeom prst="rect">
            <a:avLst/>
          </a:prstGeom>
          <a:noFill/>
        </p:spPr>
        <p:txBody>
          <a:bodyPr wrap="square" rtlCol="0">
            <a:spAutoFit/>
          </a:bodyPr>
          <a:lstStyle/>
          <a:p>
            <a:r>
              <a:rPr lang="en-US" sz="1100" dirty="0">
                <a:solidFill>
                  <a:srgbClr val="3E6CC0"/>
                </a:solidFill>
                <a:latin typeface="Gloucester MT Extra Condensed" panose="02030808020601010101" pitchFamily="18" charset="0"/>
              </a:rPr>
              <a:t>Bay of Whispers</a:t>
            </a:r>
          </a:p>
        </p:txBody>
      </p:sp>
      <p:sp>
        <p:nvSpPr>
          <p:cNvPr id="15" name="TextBox 14">
            <a:extLst>
              <a:ext uri="{FF2B5EF4-FFF2-40B4-BE49-F238E27FC236}">
                <a16:creationId xmlns:a16="http://schemas.microsoft.com/office/drawing/2014/main" id="{5EA553BE-AFF1-EDD6-857C-215D02E48DA4}"/>
              </a:ext>
            </a:extLst>
          </p:cNvPr>
          <p:cNvSpPr txBox="1"/>
          <p:nvPr/>
        </p:nvSpPr>
        <p:spPr>
          <a:xfrm>
            <a:off x="5365738" y="1529368"/>
            <a:ext cx="835037" cy="369332"/>
          </a:xfrm>
          <a:prstGeom prst="rect">
            <a:avLst/>
          </a:prstGeom>
          <a:noFill/>
        </p:spPr>
        <p:txBody>
          <a:bodyPr wrap="none" rtlCol="0">
            <a:spAutoFit/>
          </a:bodyPr>
          <a:lstStyle/>
          <a:p>
            <a:r>
              <a:rPr lang="en-US" dirty="0" err="1">
                <a:solidFill>
                  <a:srgbClr val="FFC000"/>
                </a:solidFill>
                <a:latin typeface="Gloucester MT Extra Condensed" panose="02030808020601010101" pitchFamily="18" charset="0"/>
              </a:rPr>
              <a:t>Iboraionia</a:t>
            </a:r>
            <a:endParaRPr lang="en-US" dirty="0">
              <a:solidFill>
                <a:srgbClr val="FFC000"/>
              </a:solidFill>
              <a:latin typeface="Gloucester MT Extra Condensed" panose="02030808020601010101" pitchFamily="18" charset="0"/>
            </a:endParaRPr>
          </a:p>
        </p:txBody>
      </p:sp>
      <p:sp>
        <p:nvSpPr>
          <p:cNvPr id="16" name="TextBox 15">
            <a:extLst>
              <a:ext uri="{FF2B5EF4-FFF2-40B4-BE49-F238E27FC236}">
                <a16:creationId xmlns:a16="http://schemas.microsoft.com/office/drawing/2014/main" id="{CDFABC7F-65D2-1D80-E1AB-A3C7268BC178}"/>
              </a:ext>
            </a:extLst>
          </p:cNvPr>
          <p:cNvSpPr txBox="1"/>
          <p:nvPr/>
        </p:nvSpPr>
        <p:spPr>
          <a:xfrm rot="20667741">
            <a:off x="5282144" y="3976609"/>
            <a:ext cx="729239" cy="276999"/>
          </a:xfrm>
          <a:prstGeom prst="rect">
            <a:avLst/>
          </a:prstGeom>
          <a:noFill/>
        </p:spPr>
        <p:txBody>
          <a:bodyPr wrap="none" rtlCol="0">
            <a:spAutoFit/>
          </a:bodyPr>
          <a:lstStyle/>
          <a:p>
            <a:r>
              <a:rPr lang="en-US" sz="1200" dirty="0" err="1">
                <a:solidFill>
                  <a:srgbClr val="FFC000"/>
                </a:solidFill>
                <a:latin typeface="Gloucester MT Extra Condensed" panose="02030808020601010101" pitchFamily="18" charset="0"/>
              </a:rPr>
              <a:t>Lymoro</a:t>
            </a:r>
            <a:r>
              <a:rPr lang="en-US" sz="1200" dirty="0">
                <a:solidFill>
                  <a:srgbClr val="FFC000"/>
                </a:solidFill>
                <a:latin typeface="Gloucester MT Extra Condensed" panose="02030808020601010101" pitchFamily="18" charset="0"/>
              </a:rPr>
              <a:t> Pass</a:t>
            </a:r>
          </a:p>
        </p:txBody>
      </p:sp>
      <p:sp>
        <p:nvSpPr>
          <p:cNvPr id="17" name="TextBox 16">
            <a:extLst>
              <a:ext uri="{FF2B5EF4-FFF2-40B4-BE49-F238E27FC236}">
                <a16:creationId xmlns:a16="http://schemas.microsoft.com/office/drawing/2014/main" id="{5854DB02-336C-7E7F-D24B-9F2327FF8FDD}"/>
              </a:ext>
            </a:extLst>
          </p:cNvPr>
          <p:cNvSpPr txBox="1"/>
          <p:nvPr/>
        </p:nvSpPr>
        <p:spPr>
          <a:xfrm>
            <a:off x="2152065" y="3429000"/>
            <a:ext cx="652807" cy="400110"/>
          </a:xfrm>
          <a:prstGeom prst="rect">
            <a:avLst/>
          </a:prstGeom>
          <a:noFill/>
        </p:spPr>
        <p:txBody>
          <a:bodyPr wrap="none" rtlCol="0">
            <a:spAutoFit/>
          </a:bodyPr>
          <a:lstStyle/>
          <a:p>
            <a:r>
              <a:rPr lang="en-US" sz="2000" dirty="0" err="1">
                <a:solidFill>
                  <a:srgbClr val="FFC000"/>
                </a:solidFill>
                <a:latin typeface="Gloucester MT Extra Condensed" panose="02030808020601010101" pitchFamily="18" charset="0"/>
              </a:rPr>
              <a:t>Creath</a:t>
            </a:r>
            <a:endParaRPr lang="en-US" sz="2000" dirty="0">
              <a:solidFill>
                <a:srgbClr val="FFC000"/>
              </a:solidFill>
              <a:latin typeface="Gloucester MT Extra Condensed" panose="02030808020601010101" pitchFamily="18" charset="0"/>
            </a:endParaRPr>
          </a:p>
        </p:txBody>
      </p:sp>
      <p:sp>
        <p:nvSpPr>
          <p:cNvPr id="18" name="TextBox 17">
            <a:extLst>
              <a:ext uri="{FF2B5EF4-FFF2-40B4-BE49-F238E27FC236}">
                <a16:creationId xmlns:a16="http://schemas.microsoft.com/office/drawing/2014/main" id="{719E46CF-9C6A-7402-7222-A7278F2AF0B7}"/>
              </a:ext>
            </a:extLst>
          </p:cNvPr>
          <p:cNvSpPr txBox="1"/>
          <p:nvPr/>
        </p:nvSpPr>
        <p:spPr>
          <a:xfrm rot="1761778">
            <a:off x="3100852" y="4274700"/>
            <a:ext cx="1012536" cy="261610"/>
          </a:xfrm>
          <a:prstGeom prst="rect">
            <a:avLst/>
          </a:prstGeom>
          <a:noFill/>
        </p:spPr>
        <p:txBody>
          <a:bodyPr wrap="square" rtlCol="0">
            <a:spAutoFit/>
          </a:bodyPr>
          <a:lstStyle/>
          <a:p>
            <a:r>
              <a:rPr lang="en-US" sz="1100" dirty="0" err="1">
                <a:solidFill>
                  <a:srgbClr val="FFC000"/>
                </a:solidFill>
                <a:latin typeface="Gloucester MT Extra Condensed" panose="02030808020601010101" pitchFamily="18" charset="0"/>
              </a:rPr>
              <a:t>Levendavia</a:t>
            </a:r>
            <a:endParaRPr lang="en-US" sz="1100" dirty="0">
              <a:solidFill>
                <a:srgbClr val="FFC000"/>
              </a:solidFill>
              <a:latin typeface="Gloucester MT Extra Condensed" panose="02030808020601010101" pitchFamily="18" charset="0"/>
            </a:endParaRPr>
          </a:p>
        </p:txBody>
      </p:sp>
      <p:sp>
        <p:nvSpPr>
          <p:cNvPr id="19" name="TextBox 18">
            <a:extLst>
              <a:ext uri="{FF2B5EF4-FFF2-40B4-BE49-F238E27FC236}">
                <a16:creationId xmlns:a16="http://schemas.microsoft.com/office/drawing/2014/main" id="{4EAE613B-71DA-4F41-7899-F65B4E8FD3A0}"/>
              </a:ext>
            </a:extLst>
          </p:cNvPr>
          <p:cNvSpPr txBox="1"/>
          <p:nvPr/>
        </p:nvSpPr>
        <p:spPr>
          <a:xfrm rot="19595757">
            <a:off x="4534468" y="3637465"/>
            <a:ext cx="1234911" cy="261610"/>
          </a:xfrm>
          <a:prstGeom prst="rect">
            <a:avLst/>
          </a:prstGeom>
          <a:noFill/>
        </p:spPr>
        <p:txBody>
          <a:bodyPr wrap="square" rtlCol="0">
            <a:spAutoFit/>
          </a:bodyPr>
          <a:lstStyle/>
          <a:p>
            <a:r>
              <a:rPr lang="en-US" sz="1100" dirty="0">
                <a:solidFill>
                  <a:srgbClr val="3E6CC0"/>
                </a:solidFill>
                <a:latin typeface="Gloucester MT Extra Condensed" panose="02030808020601010101" pitchFamily="18" charset="0"/>
              </a:rPr>
              <a:t>Bulbous Sea</a:t>
            </a:r>
          </a:p>
        </p:txBody>
      </p:sp>
      <p:sp>
        <p:nvSpPr>
          <p:cNvPr id="22" name="TextBox 21">
            <a:extLst>
              <a:ext uri="{FF2B5EF4-FFF2-40B4-BE49-F238E27FC236}">
                <a16:creationId xmlns:a16="http://schemas.microsoft.com/office/drawing/2014/main" id="{1D0F1856-E7C7-BC74-F8E7-E5DAB26525FC}"/>
              </a:ext>
            </a:extLst>
          </p:cNvPr>
          <p:cNvSpPr txBox="1"/>
          <p:nvPr/>
        </p:nvSpPr>
        <p:spPr>
          <a:xfrm>
            <a:off x="7565623" y="0"/>
            <a:ext cx="3750197" cy="523220"/>
          </a:xfrm>
          <a:prstGeom prst="rect">
            <a:avLst/>
          </a:prstGeom>
          <a:noFill/>
        </p:spPr>
        <p:txBody>
          <a:bodyPr wrap="square" rtlCol="0">
            <a:spAutoFit/>
          </a:bodyPr>
          <a:lstStyle/>
          <a:p>
            <a:r>
              <a:rPr lang="en-US" sz="2800" dirty="0">
                <a:latin typeface="Imprint MT Shadow" panose="04020605060303030202" pitchFamily="82" charset="0"/>
              </a:rPr>
              <a:t>Regions and Seas</a:t>
            </a:r>
          </a:p>
        </p:txBody>
      </p:sp>
      <p:sp>
        <p:nvSpPr>
          <p:cNvPr id="23" name="TextBox 22">
            <a:extLst>
              <a:ext uri="{FF2B5EF4-FFF2-40B4-BE49-F238E27FC236}">
                <a16:creationId xmlns:a16="http://schemas.microsoft.com/office/drawing/2014/main" id="{B2C5733D-E433-2475-02C4-0B48529480E7}"/>
              </a:ext>
            </a:extLst>
          </p:cNvPr>
          <p:cNvSpPr txBox="1"/>
          <p:nvPr/>
        </p:nvSpPr>
        <p:spPr>
          <a:xfrm rot="473738">
            <a:off x="4491140" y="2576817"/>
            <a:ext cx="1302408" cy="369332"/>
          </a:xfrm>
          <a:prstGeom prst="rect">
            <a:avLst/>
          </a:prstGeom>
          <a:noFill/>
        </p:spPr>
        <p:txBody>
          <a:bodyPr wrap="none" rtlCol="0">
            <a:spAutoFit/>
          </a:bodyPr>
          <a:lstStyle/>
          <a:p>
            <a:r>
              <a:rPr lang="en-US" dirty="0">
                <a:solidFill>
                  <a:srgbClr val="FFC000"/>
                </a:solidFill>
                <a:latin typeface="Gloucester MT Extra Condensed" panose="02030808020601010101" pitchFamily="18" charset="0"/>
              </a:rPr>
              <a:t>Jungles of </a:t>
            </a:r>
            <a:r>
              <a:rPr lang="en-US" dirty="0" err="1">
                <a:solidFill>
                  <a:srgbClr val="FFC000"/>
                </a:solidFill>
                <a:latin typeface="Gloucester MT Extra Condensed" panose="02030808020601010101" pitchFamily="18" charset="0"/>
              </a:rPr>
              <a:t>Arcum</a:t>
            </a:r>
            <a:endParaRPr lang="en-US" dirty="0">
              <a:solidFill>
                <a:srgbClr val="FFC000"/>
              </a:solidFill>
              <a:latin typeface="Gloucester MT Extra Condensed" panose="02030808020601010101" pitchFamily="18" charset="0"/>
            </a:endParaRPr>
          </a:p>
        </p:txBody>
      </p:sp>
      <p:sp>
        <p:nvSpPr>
          <p:cNvPr id="24" name="TextBox 23">
            <a:extLst>
              <a:ext uri="{FF2B5EF4-FFF2-40B4-BE49-F238E27FC236}">
                <a16:creationId xmlns:a16="http://schemas.microsoft.com/office/drawing/2014/main" id="{C4EA0CAE-C826-4E8D-29B9-3BD68A88AB67}"/>
              </a:ext>
            </a:extLst>
          </p:cNvPr>
          <p:cNvSpPr txBox="1"/>
          <p:nvPr/>
        </p:nvSpPr>
        <p:spPr>
          <a:xfrm rot="337282">
            <a:off x="4592293" y="2870961"/>
            <a:ext cx="690510" cy="276999"/>
          </a:xfrm>
          <a:prstGeom prst="rect">
            <a:avLst/>
          </a:prstGeom>
          <a:noFill/>
        </p:spPr>
        <p:txBody>
          <a:bodyPr wrap="none" rtlCol="0">
            <a:spAutoFit/>
          </a:bodyPr>
          <a:lstStyle/>
          <a:p>
            <a:r>
              <a:rPr lang="en-US" sz="1200" dirty="0">
                <a:solidFill>
                  <a:schemeClr val="accent2">
                    <a:lumMod val="75000"/>
                  </a:schemeClr>
                </a:solidFill>
                <a:latin typeface="Gloucester MT Extra Condensed" panose="02030808020601010101" pitchFamily="18" charset="0"/>
              </a:rPr>
              <a:t>Aurion Rise</a:t>
            </a:r>
          </a:p>
        </p:txBody>
      </p:sp>
      <p:sp>
        <p:nvSpPr>
          <p:cNvPr id="25" name="TextBox 24">
            <a:extLst>
              <a:ext uri="{FF2B5EF4-FFF2-40B4-BE49-F238E27FC236}">
                <a16:creationId xmlns:a16="http://schemas.microsoft.com/office/drawing/2014/main" id="{8DC925CD-ECF7-0574-924B-E1FFC01D6B8B}"/>
              </a:ext>
            </a:extLst>
          </p:cNvPr>
          <p:cNvSpPr txBox="1"/>
          <p:nvPr/>
        </p:nvSpPr>
        <p:spPr>
          <a:xfrm rot="18775168">
            <a:off x="3701762" y="3372215"/>
            <a:ext cx="950645" cy="276999"/>
          </a:xfrm>
          <a:prstGeom prst="rect">
            <a:avLst/>
          </a:prstGeom>
          <a:noFill/>
        </p:spPr>
        <p:txBody>
          <a:bodyPr wrap="none" rtlCol="0">
            <a:spAutoFit/>
          </a:bodyPr>
          <a:lstStyle/>
          <a:p>
            <a:r>
              <a:rPr lang="en-US" sz="1200" dirty="0">
                <a:solidFill>
                  <a:schemeClr val="accent2">
                    <a:lumMod val="75000"/>
                  </a:schemeClr>
                </a:solidFill>
                <a:latin typeface="Gloucester MT Extra Condensed" panose="02030808020601010101" pitchFamily="18" charset="0"/>
              </a:rPr>
              <a:t>Fissure of </a:t>
            </a:r>
            <a:r>
              <a:rPr lang="en-US" sz="1200" dirty="0" err="1">
                <a:solidFill>
                  <a:schemeClr val="accent2">
                    <a:lumMod val="75000"/>
                  </a:schemeClr>
                </a:solidFill>
                <a:latin typeface="Gloucester MT Extra Condensed" panose="02030808020601010101" pitchFamily="18" charset="0"/>
              </a:rPr>
              <a:t>Alathor</a:t>
            </a:r>
            <a:endParaRPr lang="en-US" sz="1200" dirty="0">
              <a:solidFill>
                <a:schemeClr val="accent2">
                  <a:lumMod val="75000"/>
                </a:schemeClr>
              </a:solidFill>
              <a:latin typeface="Gloucester MT Extra Condensed" panose="02030808020601010101" pitchFamily="18" charset="0"/>
            </a:endParaRPr>
          </a:p>
        </p:txBody>
      </p:sp>
      <p:sp>
        <p:nvSpPr>
          <p:cNvPr id="3" name="TextBox 2">
            <a:extLst>
              <a:ext uri="{FF2B5EF4-FFF2-40B4-BE49-F238E27FC236}">
                <a16:creationId xmlns:a16="http://schemas.microsoft.com/office/drawing/2014/main" id="{8BF122EC-43E2-FEA3-33DB-3E9F9FEEB0B7}"/>
              </a:ext>
            </a:extLst>
          </p:cNvPr>
          <p:cNvSpPr txBox="1"/>
          <p:nvPr/>
        </p:nvSpPr>
        <p:spPr>
          <a:xfrm>
            <a:off x="4210679" y="697180"/>
            <a:ext cx="877100" cy="369332"/>
          </a:xfrm>
          <a:prstGeom prst="rect">
            <a:avLst/>
          </a:prstGeom>
          <a:noFill/>
        </p:spPr>
        <p:txBody>
          <a:bodyPr wrap="none" rtlCol="0">
            <a:spAutoFit/>
          </a:bodyPr>
          <a:lstStyle/>
          <a:p>
            <a:r>
              <a:rPr lang="en-US">
                <a:solidFill>
                  <a:srgbClr val="FFC000"/>
                </a:solidFill>
                <a:latin typeface="Gloucester MT Extra Condensed" panose="02030808020601010101" pitchFamily="18" charset="0"/>
              </a:rPr>
              <a:t>Nythravold</a:t>
            </a:r>
            <a:endParaRPr lang="en-US" dirty="0">
              <a:solidFill>
                <a:srgbClr val="FFC000"/>
              </a:solidFill>
              <a:latin typeface="Gloucester MT Extra Condensed" panose="02030808020601010101" pitchFamily="18" charset="0"/>
            </a:endParaRPr>
          </a:p>
        </p:txBody>
      </p:sp>
    </p:spTree>
    <p:extLst>
      <p:ext uri="{BB962C8B-B14F-4D97-AF65-F5344CB8AC3E}">
        <p14:creationId xmlns:p14="http://schemas.microsoft.com/office/powerpoint/2010/main" val="44633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FE446-2199-E6D3-4BD3-A5DA9C264DAF}"/>
              </a:ext>
            </a:extLst>
          </p:cNvPr>
          <p:cNvSpPr txBox="1"/>
          <p:nvPr/>
        </p:nvSpPr>
        <p:spPr>
          <a:xfrm>
            <a:off x="0" y="0"/>
            <a:ext cx="12192000" cy="5355312"/>
          </a:xfrm>
          <a:prstGeom prst="rect">
            <a:avLst/>
          </a:prstGeom>
          <a:noFill/>
        </p:spPr>
        <p:txBody>
          <a:bodyPr wrap="square" numCol="2" rtlCol="0">
            <a:spAutoFit/>
          </a:bodyPr>
          <a:lstStyle/>
          <a:p>
            <a:r>
              <a:rPr lang="en-US" dirty="0"/>
              <a:t>Key Locations:</a:t>
            </a:r>
          </a:p>
          <a:p>
            <a:pPr marL="285750" indent="-285750">
              <a:buFont typeface="Arial" panose="020B0604020202020204" pitchFamily="34" charset="0"/>
              <a:buChar char="•"/>
            </a:pPr>
            <a:r>
              <a:rPr lang="en-US" dirty="0" err="1"/>
              <a:t>Gerconia</a:t>
            </a:r>
            <a:r>
              <a:rPr lang="en-US" dirty="0"/>
              <a:t>:</a:t>
            </a:r>
          </a:p>
          <a:p>
            <a:pPr marL="742950" lvl="1" indent="-285750">
              <a:buFont typeface="Arial" panose="020B0604020202020204" pitchFamily="34" charset="0"/>
              <a:buChar char="•"/>
            </a:pPr>
            <a:r>
              <a:rPr lang="en-US" dirty="0"/>
              <a:t>Comparable to western/central Europe. </a:t>
            </a:r>
          </a:p>
          <a:p>
            <a:pPr marL="742950" lvl="1" indent="-285750">
              <a:buFont typeface="Arial" panose="020B0604020202020204" pitchFamily="34" charset="0"/>
              <a:buChar char="•"/>
            </a:pPr>
            <a:r>
              <a:rPr lang="en-US" dirty="0"/>
              <a:t>Home to Holy </a:t>
            </a:r>
            <a:r>
              <a:rPr lang="en-US" dirty="0" err="1"/>
              <a:t>Gerconian</a:t>
            </a:r>
            <a:r>
              <a:rPr lang="en-US" dirty="0"/>
              <a:t> Empire (akin to Holy Roman Empire)</a:t>
            </a:r>
          </a:p>
          <a:p>
            <a:pPr marL="285750" indent="-285750">
              <a:buFont typeface="Arial" panose="020B0604020202020204" pitchFamily="34" charset="0"/>
              <a:buChar char="•"/>
            </a:pPr>
            <a:r>
              <a:rPr lang="en-US" dirty="0" err="1"/>
              <a:t>Nefeli</a:t>
            </a:r>
            <a:endParaRPr lang="en-US" dirty="0"/>
          </a:p>
          <a:p>
            <a:pPr marL="285750" indent="-285750">
              <a:buFont typeface="Arial" panose="020B0604020202020204" pitchFamily="34" charset="0"/>
              <a:buChar char="•"/>
            </a:pPr>
            <a:r>
              <a:rPr lang="en-US" dirty="0" err="1"/>
              <a:t>Radamle</a:t>
            </a:r>
            <a:r>
              <a:rPr lang="en-US" dirty="0"/>
              <a:t>:</a:t>
            </a:r>
          </a:p>
          <a:p>
            <a:pPr marL="742950" lvl="1" indent="-285750">
              <a:buFont typeface="Arial" panose="020B0604020202020204" pitchFamily="34" charset="0"/>
              <a:buChar char="•"/>
            </a:pPr>
            <a:r>
              <a:rPr lang="en-US" dirty="0"/>
              <a:t>Comparable to eastern America, temperate climates</a:t>
            </a:r>
          </a:p>
          <a:p>
            <a:pPr marL="285750" indent="-285750">
              <a:buFont typeface="Arial" panose="020B0604020202020204" pitchFamily="34" charset="0"/>
              <a:buChar char="•"/>
            </a:pPr>
            <a:r>
              <a:rPr lang="en-US" dirty="0" err="1"/>
              <a:t>Creath</a:t>
            </a:r>
            <a:r>
              <a:rPr lang="en-US" dirty="0"/>
              <a:t>:</a:t>
            </a:r>
          </a:p>
          <a:p>
            <a:pPr marL="742950" lvl="1" indent="-285750">
              <a:buFont typeface="Arial" panose="020B0604020202020204" pitchFamily="34" charset="0"/>
              <a:buChar char="•"/>
            </a:pPr>
            <a:r>
              <a:rPr lang="en-US" dirty="0"/>
              <a:t>Comparable to lands of the western Baltic states</a:t>
            </a:r>
          </a:p>
          <a:p>
            <a:pPr marL="742950" lvl="1" indent="-285750">
              <a:buFont typeface="Arial" panose="020B0604020202020204" pitchFamily="34" charset="0"/>
              <a:buChar char="•"/>
            </a:pPr>
            <a:r>
              <a:rPr lang="en-US" dirty="0"/>
              <a:t>The lands west of </a:t>
            </a:r>
            <a:r>
              <a:rPr lang="en-US" dirty="0" err="1"/>
              <a:t>Gerconia</a:t>
            </a:r>
            <a:r>
              <a:rPr lang="en-US" dirty="0"/>
              <a:t>. The small pass between the two continent’s supermassive mountain chains separate these lands. The river which runs through, one of the most critical choke points in the entire southern half of he continent.</a:t>
            </a:r>
          </a:p>
          <a:p>
            <a:pPr marL="285750" indent="-285750">
              <a:buFont typeface="Arial" panose="020B0604020202020204" pitchFamily="34" charset="0"/>
              <a:buChar char="•"/>
            </a:pPr>
            <a:r>
              <a:rPr lang="en-US" dirty="0" err="1"/>
              <a:t>Levendavia</a:t>
            </a:r>
            <a:endParaRPr lang="en-US" dirty="0"/>
          </a:p>
          <a:p>
            <a:pPr marL="285750" indent="-285750">
              <a:buFont typeface="Arial" panose="020B0604020202020204" pitchFamily="34" charset="0"/>
              <a:buChar char="•"/>
            </a:pPr>
            <a:r>
              <a:rPr lang="en-US" dirty="0" err="1"/>
              <a:t>Iboraionia</a:t>
            </a:r>
            <a:endParaRPr lang="en-US" dirty="0"/>
          </a:p>
          <a:p>
            <a:pPr marL="285750" indent="-285750">
              <a:buFont typeface="Arial" panose="020B0604020202020204" pitchFamily="34" charset="0"/>
              <a:buChar char="•"/>
            </a:pPr>
            <a:r>
              <a:rPr lang="en-US" dirty="0"/>
              <a:t>Kyros</a:t>
            </a:r>
          </a:p>
          <a:p>
            <a:pPr marL="285750" indent="-285750">
              <a:buFont typeface="Arial" panose="020B0604020202020204" pitchFamily="34" charset="0"/>
              <a:buChar char="•"/>
            </a:pPr>
            <a:r>
              <a:rPr lang="en-US" dirty="0" err="1"/>
              <a:t>Lymoro</a:t>
            </a:r>
            <a:r>
              <a:rPr lang="en-US" dirty="0"/>
              <a:t> Pass</a:t>
            </a:r>
          </a:p>
          <a:p>
            <a:pPr marL="285750" indent="-285750">
              <a:buFont typeface="Arial" panose="020B0604020202020204" pitchFamily="34" charset="0"/>
              <a:buChar char="•"/>
            </a:pPr>
            <a:r>
              <a:rPr lang="en-US" dirty="0" err="1"/>
              <a:t>Veimir</a:t>
            </a:r>
            <a:r>
              <a:rPr lang="en-US" dirty="0"/>
              <a:t> Ridgeland</a:t>
            </a:r>
          </a:p>
          <a:p>
            <a:pPr marL="285750" indent="-285750">
              <a:buFont typeface="Arial" panose="020B0604020202020204" pitchFamily="34" charset="0"/>
              <a:buChar char="•"/>
            </a:pPr>
            <a:r>
              <a:rPr lang="en-US" dirty="0"/>
              <a:t>Jungles of </a:t>
            </a:r>
            <a:r>
              <a:rPr lang="en-US" dirty="0" err="1"/>
              <a:t>Arcum</a:t>
            </a:r>
            <a:endParaRPr lang="en-US" dirty="0"/>
          </a:p>
          <a:p>
            <a:pPr marL="742950" lvl="1" indent="-285750">
              <a:buFont typeface="Arial" panose="020B0604020202020204" pitchFamily="34" charset="0"/>
              <a:buChar char="•"/>
            </a:pPr>
            <a:r>
              <a:rPr lang="en-US" dirty="0"/>
              <a:t>The lands east of </a:t>
            </a:r>
            <a:r>
              <a:rPr lang="en-US" dirty="0" err="1"/>
              <a:t>of</a:t>
            </a:r>
            <a:r>
              <a:rPr lang="en-US" dirty="0"/>
              <a:t> </a:t>
            </a:r>
            <a:r>
              <a:rPr lang="en-US" dirty="0" err="1"/>
              <a:t>Gerconia</a:t>
            </a:r>
            <a:r>
              <a:rPr lang="en-US" dirty="0"/>
              <a:t> only reachable by a small pass between both the massive mountain range to the north and the Hills to the south. This small pass should be difficult to navigate akin to Gibraltar with wicked wind gusts and tumultuous conditions. These jungles lie North of </a:t>
            </a:r>
            <a:r>
              <a:rPr lang="en-US" dirty="0" err="1"/>
              <a:t>Radamle</a:t>
            </a:r>
            <a:r>
              <a:rPr lang="en-US" dirty="0"/>
              <a:t> over the &lt;TO NAME&gt; Hills. North of these area is the Sea of Dragons. The land is dominated by jungle of both frozen climates and hot and humid climates that constantly shift through out the jungles switching from a magical frozen </a:t>
            </a:r>
            <a:r>
              <a:rPr lang="en-US" dirty="0" err="1"/>
              <a:t>winterland</a:t>
            </a:r>
            <a:r>
              <a:rPr lang="en-US" dirty="0"/>
              <a:t> to an Amazonian rainforest at a mere whim</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10149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D6C68D-5B10-12AE-CF91-F6D689ABD846}"/>
              </a:ext>
            </a:extLst>
          </p:cNvPr>
          <p:cNvPicPr>
            <a:picLocks noChangeAspect="1"/>
          </p:cNvPicPr>
          <p:nvPr/>
        </p:nvPicPr>
        <p:blipFill>
          <a:blip r:embed="rId2">
            <a:extLst>
              <a:ext uri="{28A0092B-C50C-407E-A947-70E740481C1C}">
                <a14:useLocalDpi xmlns:a14="http://schemas.microsoft.com/office/drawing/2010/main" val="0"/>
              </a:ext>
            </a:extLst>
          </a:blip>
          <a:srcRect l="37770" t="27747" r="13742" b="38600"/>
          <a:stretch/>
        </p:blipFill>
        <p:spPr>
          <a:xfrm>
            <a:off x="254524" y="527704"/>
            <a:ext cx="8231718" cy="5307291"/>
          </a:xfrm>
          <a:prstGeom prst="rect">
            <a:avLst/>
          </a:prstGeom>
        </p:spPr>
      </p:pic>
    </p:spTree>
    <p:extLst>
      <p:ext uri="{BB962C8B-B14F-4D97-AF65-F5344CB8AC3E}">
        <p14:creationId xmlns:p14="http://schemas.microsoft.com/office/powerpoint/2010/main" val="1281838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9ACF34-3697-523B-873D-B0B06B330A34}"/>
              </a:ext>
            </a:extLst>
          </p:cNvPr>
          <p:cNvPicPr>
            <a:picLocks noChangeAspect="1"/>
          </p:cNvPicPr>
          <p:nvPr/>
        </p:nvPicPr>
        <p:blipFill>
          <a:blip r:embed="rId2">
            <a:extLst>
              <a:ext uri="{28A0092B-C50C-407E-A947-70E740481C1C}">
                <a14:useLocalDpi xmlns:a14="http://schemas.microsoft.com/office/drawing/2010/main" val="0"/>
              </a:ext>
            </a:extLst>
          </a:blip>
          <a:srcRect l="37770" t="27747" r="13742" b="38600"/>
          <a:stretch/>
        </p:blipFill>
        <p:spPr>
          <a:xfrm>
            <a:off x="254524" y="527704"/>
            <a:ext cx="8231718" cy="5307291"/>
          </a:xfrm>
          <a:prstGeom prst="rect">
            <a:avLst/>
          </a:prstGeom>
        </p:spPr>
      </p:pic>
      <p:sp>
        <p:nvSpPr>
          <p:cNvPr id="5" name="TextBox 4">
            <a:extLst>
              <a:ext uri="{FF2B5EF4-FFF2-40B4-BE49-F238E27FC236}">
                <a16:creationId xmlns:a16="http://schemas.microsoft.com/office/drawing/2014/main" id="{3B750792-93A9-571E-A83E-9352E0755D7B}"/>
              </a:ext>
            </a:extLst>
          </p:cNvPr>
          <p:cNvSpPr txBox="1"/>
          <p:nvPr/>
        </p:nvSpPr>
        <p:spPr>
          <a:xfrm rot="19090550">
            <a:off x="5292075" y="1708282"/>
            <a:ext cx="1865698" cy="400110"/>
          </a:xfrm>
          <a:prstGeom prst="rect">
            <a:avLst/>
          </a:prstGeom>
          <a:noFill/>
        </p:spPr>
        <p:txBody>
          <a:bodyPr wrap="square" rtlCol="0">
            <a:spAutoFit/>
          </a:bodyPr>
          <a:lstStyle/>
          <a:p>
            <a:r>
              <a:rPr lang="en-US" sz="2000" dirty="0">
                <a:solidFill>
                  <a:srgbClr val="3E6CC0"/>
                </a:solidFill>
                <a:latin typeface="Gloucester MT Extra Condensed" panose="02030808020601010101" pitchFamily="18" charset="0"/>
              </a:rPr>
              <a:t>Sea of Dragons</a:t>
            </a:r>
          </a:p>
        </p:txBody>
      </p:sp>
      <p:sp>
        <p:nvSpPr>
          <p:cNvPr id="6" name="TextBox 5">
            <a:extLst>
              <a:ext uri="{FF2B5EF4-FFF2-40B4-BE49-F238E27FC236}">
                <a16:creationId xmlns:a16="http://schemas.microsoft.com/office/drawing/2014/main" id="{4082210F-5602-E1F4-515F-9E6CF7AA8B48}"/>
              </a:ext>
            </a:extLst>
          </p:cNvPr>
          <p:cNvSpPr txBox="1"/>
          <p:nvPr/>
        </p:nvSpPr>
        <p:spPr>
          <a:xfrm>
            <a:off x="1630261" y="3672464"/>
            <a:ext cx="977900" cy="461665"/>
          </a:xfrm>
          <a:prstGeom prst="rect">
            <a:avLst/>
          </a:prstGeom>
          <a:noFill/>
        </p:spPr>
        <p:txBody>
          <a:bodyPr wrap="square" rtlCol="0">
            <a:spAutoFit/>
          </a:bodyPr>
          <a:lstStyle/>
          <a:p>
            <a:r>
              <a:rPr lang="en-US" sz="2400" dirty="0" err="1">
                <a:solidFill>
                  <a:srgbClr val="FFC000"/>
                </a:solidFill>
                <a:latin typeface="Gloucester MT Extra Condensed" panose="02030808020601010101" pitchFamily="18" charset="0"/>
              </a:rPr>
              <a:t>Gerconia</a:t>
            </a:r>
            <a:endParaRPr lang="en-US" sz="2400" dirty="0">
              <a:solidFill>
                <a:srgbClr val="FFC000"/>
              </a:solidFill>
              <a:latin typeface="Gloucester MT Extra Condensed" panose="02030808020601010101" pitchFamily="18" charset="0"/>
            </a:endParaRPr>
          </a:p>
        </p:txBody>
      </p:sp>
      <p:sp>
        <p:nvSpPr>
          <p:cNvPr id="7" name="TextBox 6">
            <a:extLst>
              <a:ext uri="{FF2B5EF4-FFF2-40B4-BE49-F238E27FC236}">
                <a16:creationId xmlns:a16="http://schemas.microsoft.com/office/drawing/2014/main" id="{308E2235-39FD-EBC4-76CB-20265ECCA687}"/>
              </a:ext>
            </a:extLst>
          </p:cNvPr>
          <p:cNvSpPr txBox="1"/>
          <p:nvPr/>
        </p:nvSpPr>
        <p:spPr>
          <a:xfrm>
            <a:off x="4472995" y="3672464"/>
            <a:ext cx="1170513" cy="584775"/>
          </a:xfrm>
          <a:prstGeom prst="rect">
            <a:avLst/>
          </a:prstGeom>
          <a:noFill/>
        </p:spPr>
        <p:txBody>
          <a:bodyPr wrap="none" rtlCol="0">
            <a:spAutoFit/>
          </a:bodyPr>
          <a:lstStyle/>
          <a:p>
            <a:r>
              <a:rPr lang="en-US" sz="3200" dirty="0" err="1">
                <a:solidFill>
                  <a:srgbClr val="FFC000"/>
                </a:solidFill>
                <a:latin typeface="Gloucester MT Extra Condensed" panose="02030808020601010101" pitchFamily="18" charset="0"/>
              </a:rPr>
              <a:t>Radamle</a:t>
            </a:r>
            <a:endParaRPr lang="en-US" sz="3200" dirty="0">
              <a:solidFill>
                <a:srgbClr val="FFC000"/>
              </a:solidFill>
              <a:latin typeface="Gloucester MT Extra Condensed" panose="02030808020601010101" pitchFamily="18" charset="0"/>
            </a:endParaRPr>
          </a:p>
        </p:txBody>
      </p:sp>
      <p:sp>
        <p:nvSpPr>
          <p:cNvPr id="8" name="TextBox 7">
            <a:extLst>
              <a:ext uri="{FF2B5EF4-FFF2-40B4-BE49-F238E27FC236}">
                <a16:creationId xmlns:a16="http://schemas.microsoft.com/office/drawing/2014/main" id="{576578F2-3B5B-D7E6-7A14-516326675567}"/>
              </a:ext>
            </a:extLst>
          </p:cNvPr>
          <p:cNvSpPr txBox="1"/>
          <p:nvPr/>
        </p:nvSpPr>
        <p:spPr>
          <a:xfrm rot="2793771">
            <a:off x="3772086" y="5469487"/>
            <a:ext cx="550151" cy="369332"/>
          </a:xfrm>
          <a:prstGeom prst="rect">
            <a:avLst/>
          </a:prstGeom>
          <a:noFill/>
        </p:spPr>
        <p:txBody>
          <a:bodyPr wrap="none" rtlCol="0">
            <a:spAutoFit/>
          </a:bodyPr>
          <a:lstStyle/>
          <a:p>
            <a:r>
              <a:rPr lang="en-US" dirty="0" err="1">
                <a:solidFill>
                  <a:srgbClr val="FFC000"/>
                </a:solidFill>
                <a:latin typeface="Gloucester MT Extra Condensed" panose="02030808020601010101" pitchFamily="18" charset="0"/>
              </a:rPr>
              <a:t>Nefeli</a:t>
            </a:r>
            <a:endParaRPr lang="en-US" dirty="0">
              <a:solidFill>
                <a:srgbClr val="FFC000"/>
              </a:solidFill>
              <a:latin typeface="Gloucester MT Extra Condensed" panose="02030808020601010101" pitchFamily="18" charset="0"/>
            </a:endParaRPr>
          </a:p>
        </p:txBody>
      </p:sp>
      <p:sp>
        <p:nvSpPr>
          <p:cNvPr id="9" name="TextBox 8">
            <a:extLst>
              <a:ext uri="{FF2B5EF4-FFF2-40B4-BE49-F238E27FC236}">
                <a16:creationId xmlns:a16="http://schemas.microsoft.com/office/drawing/2014/main" id="{711B92B5-2939-4DF3-FC82-D4572946D2D3}"/>
              </a:ext>
            </a:extLst>
          </p:cNvPr>
          <p:cNvSpPr txBox="1"/>
          <p:nvPr/>
        </p:nvSpPr>
        <p:spPr>
          <a:xfrm rot="19595757">
            <a:off x="4464191" y="5003628"/>
            <a:ext cx="1234911" cy="338554"/>
          </a:xfrm>
          <a:prstGeom prst="rect">
            <a:avLst/>
          </a:prstGeom>
          <a:noFill/>
        </p:spPr>
        <p:txBody>
          <a:bodyPr wrap="square" rtlCol="0">
            <a:spAutoFit/>
          </a:bodyPr>
          <a:lstStyle/>
          <a:p>
            <a:r>
              <a:rPr lang="en-US" sz="1600" dirty="0">
                <a:solidFill>
                  <a:srgbClr val="3E6CC0"/>
                </a:solidFill>
                <a:latin typeface="Gloucester MT Extra Condensed" panose="02030808020601010101" pitchFamily="18" charset="0"/>
              </a:rPr>
              <a:t>Bulbous Sea</a:t>
            </a:r>
          </a:p>
        </p:txBody>
      </p:sp>
      <p:sp>
        <p:nvSpPr>
          <p:cNvPr id="10" name="TextBox 9">
            <a:extLst>
              <a:ext uri="{FF2B5EF4-FFF2-40B4-BE49-F238E27FC236}">
                <a16:creationId xmlns:a16="http://schemas.microsoft.com/office/drawing/2014/main" id="{74073B40-6377-CC30-4543-0CAD4BF3DAB7}"/>
              </a:ext>
            </a:extLst>
          </p:cNvPr>
          <p:cNvSpPr txBox="1"/>
          <p:nvPr/>
        </p:nvSpPr>
        <p:spPr>
          <a:xfrm rot="473738">
            <a:off x="4605922" y="2506624"/>
            <a:ext cx="2266946" cy="400110"/>
          </a:xfrm>
          <a:prstGeom prst="rect">
            <a:avLst/>
          </a:prstGeom>
          <a:noFill/>
        </p:spPr>
        <p:txBody>
          <a:bodyPr wrap="square" rtlCol="0">
            <a:spAutoFit/>
          </a:bodyPr>
          <a:lstStyle/>
          <a:p>
            <a:r>
              <a:rPr lang="en-US" sz="2000" spc="300" dirty="0">
                <a:solidFill>
                  <a:srgbClr val="FFC000"/>
                </a:solidFill>
                <a:latin typeface="Gloucester MT Extra Condensed" panose="02030808020601010101" pitchFamily="18" charset="0"/>
              </a:rPr>
              <a:t>Jungles of </a:t>
            </a:r>
            <a:r>
              <a:rPr lang="en-US" sz="2000" spc="300" dirty="0" err="1">
                <a:solidFill>
                  <a:srgbClr val="FFC000"/>
                </a:solidFill>
                <a:latin typeface="Gloucester MT Extra Condensed" panose="02030808020601010101" pitchFamily="18" charset="0"/>
              </a:rPr>
              <a:t>Arcum</a:t>
            </a:r>
            <a:endParaRPr lang="en-US" sz="2000" spc="300" dirty="0">
              <a:solidFill>
                <a:srgbClr val="FFC000"/>
              </a:solidFill>
              <a:latin typeface="Gloucester MT Extra Condensed" panose="02030808020601010101" pitchFamily="18" charset="0"/>
            </a:endParaRPr>
          </a:p>
        </p:txBody>
      </p:sp>
      <p:sp>
        <p:nvSpPr>
          <p:cNvPr id="11" name="TextBox 10">
            <a:extLst>
              <a:ext uri="{FF2B5EF4-FFF2-40B4-BE49-F238E27FC236}">
                <a16:creationId xmlns:a16="http://schemas.microsoft.com/office/drawing/2014/main" id="{39BACC23-2154-DAE2-9A13-C7B18BEE83B6}"/>
              </a:ext>
            </a:extLst>
          </p:cNvPr>
          <p:cNvSpPr txBox="1"/>
          <p:nvPr/>
        </p:nvSpPr>
        <p:spPr>
          <a:xfrm>
            <a:off x="2163830" y="3429000"/>
            <a:ext cx="1865698" cy="400110"/>
          </a:xfrm>
          <a:prstGeom prst="rect">
            <a:avLst/>
          </a:prstGeom>
          <a:noFill/>
        </p:spPr>
        <p:txBody>
          <a:bodyPr wrap="square" rtlCol="0">
            <a:spAutoFit/>
          </a:bodyPr>
          <a:lstStyle/>
          <a:p>
            <a:r>
              <a:rPr lang="en-US" sz="2000" dirty="0">
                <a:solidFill>
                  <a:srgbClr val="3E6CC0"/>
                </a:solidFill>
                <a:latin typeface="Gloucester MT Extra Condensed" panose="02030808020601010101" pitchFamily="18" charset="0"/>
              </a:rPr>
              <a:t>Lake </a:t>
            </a:r>
            <a:r>
              <a:rPr lang="en-US" sz="2000" dirty="0" err="1">
                <a:solidFill>
                  <a:srgbClr val="3E6CC0"/>
                </a:solidFill>
                <a:latin typeface="Gloucester MT Extra Condensed" panose="02030808020601010101" pitchFamily="18" charset="0"/>
              </a:rPr>
              <a:t>Muyrm</a:t>
            </a:r>
            <a:endParaRPr lang="en-US" sz="2000" dirty="0">
              <a:solidFill>
                <a:srgbClr val="3E6CC0"/>
              </a:solidFill>
              <a:latin typeface="Gloucester MT Extra Condensed" panose="02030808020601010101" pitchFamily="18" charset="0"/>
            </a:endParaRPr>
          </a:p>
        </p:txBody>
      </p:sp>
      <p:sp>
        <p:nvSpPr>
          <p:cNvPr id="12" name="TextBox 11">
            <a:extLst>
              <a:ext uri="{FF2B5EF4-FFF2-40B4-BE49-F238E27FC236}">
                <a16:creationId xmlns:a16="http://schemas.microsoft.com/office/drawing/2014/main" id="{D4590CB9-ED6F-17A4-BE97-7F806D1596D1}"/>
              </a:ext>
            </a:extLst>
          </p:cNvPr>
          <p:cNvSpPr txBox="1"/>
          <p:nvPr/>
        </p:nvSpPr>
        <p:spPr>
          <a:xfrm rot="337282">
            <a:off x="4594959" y="2883071"/>
            <a:ext cx="1194686" cy="461665"/>
          </a:xfrm>
          <a:prstGeom prst="rect">
            <a:avLst/>
          </a:prstGeom>
          <a:noFill/>
        </p:spPr>
        <p:txBody>
          <a:bodyPr wrap="none" rtlCol="0">
            <a:spAutoFit/>
          </a:bodyPr>
          <a:lstStyle/>
          <a:p>
            <a:r>
              <a:rPr lang="en-US" sz="2400" dirty="0">
                <a:solidFill>
                  <a:schemeClr val="accent2">
                    <a:lumMod val="75000"/>
                  </a:schemeClr>
                </a:solidFill>
                <a:latin typeface="Gloucester MT Extra Condensed" panose="02030808020601010101" pitchFamily="18" charset="0"/>
              </a:rPr>
              <a:t>Aurion Rise</a:t>
            </a:r>
          </a:p>
        </p:txBody>
      </p:sp>
      <p:sp>
        <p:nvSpPr>
          <p:cNvPr id="13" name="TextBox 12">
            <a:extLst>
              <a:ext uri="{FF2B5EF4-FFF2-40B4-BE49-F238E27FC236}">
                <a16:creationId xmlns:a16="http://schemas.microsoft.com/office/drawing/2014/main" id="{AE80628A-9736-3104-9124-9D2EDD91C2ED}"/>
              </a:ext>
            </a:extLst>
          </p:cNvPr>
          <p:cNvSpPr txBox="1"/>
          <p:nvPr/>
        </p:nvSpPr>
        <p:spPr>
          <a:xfrm rot="18753759">
            <a:off x="2641198" y="3999634"/>
            <a:ext cx="1718163" cy="461665"/>
          </a:xfrm>
          <a:prstGeom prst="rect">
            <a:avLst/>
          </a:prstGeom>
          <a:noFill/>
        </p:spPr>
        <p:txBody>
          <a:bodyPr wrap="none" rtlCol="0">
            <a:spAutoFit/>
          </a:bodyPr>
          <a:lstStyle/>
          <a:p>
            <a:r>
              <a:rPr lang="en-US" sz="2400" dirty="0">
                <a:solidFill>
                  <a:schemeClr val="accent2">
                    <a:lumMod val="75000"/>
                  </a:schemeClr>
                </a:solidFill>
                <a:latin typeface="Gloucester MT Extra Condensed" panose="02030808020601010101" pitchFamily="18" charset="0"/>
              </a:rPr>
              <a:t>Fissure of </a:t>
            </a:r>
            <a:r>
              <a:rPr lang="en-US" sz="2400" dirty="0" err="1">
                <a:solidFill>
                  <a:schemeClr val="accent2">
                    <a:lumMod val="75000"/>
                  </a:schemeClr>
                </a:solidFill>
                <a:latin typeface="Gloucester MT Extra Condensed" panose="02030808020601010101" pitchFamily="18" charset="0"/>
              </a:rPr>
              <a:t>Alathor</a:t>
            </a:r>
            <a:endParaRPr lang="en-US" sz="2400" dirty="0">
              <a:solidFill>
                <a:schemeClr val="accent2">
                  <a:lumMod val="75000"/>
                </a:schemeClr>
              </a:solidFill>
              <a:latin typeface="Gloucester MT Extra Condensed" panose="02030808020601010101" pitchFamily="18" charset="0"/>
            </a:endParaRPr>
          </a:p>
        </p:txBody>
      </p:sp>
      <p:sp>
        <p:nvSpPr>
          <p:cNvPr id="14" name="TextBox 13">
            <a:extLst>
              <a:ext uri="{FF2B5EF4-FFF2-40B4-BE49-F238E27FC236}">
                <a16:creationId xmlns:a16="http://schemas.microsoft.com/office/drawing/2014/main" id="{A4EEDEB0-4A91-6277-33CD-127FEAD7106F}"/>
              </a:ext>
            </a:extLst>
          </p:cNvPr>
          <p:cNvSpPr txBox="1"/>
          <p:nvPr/>
        </p:nvSpPr>
        <p:spPr>
          <a:xfrm>
            <a:off x="8663233" y="424206"/>
            <a:ext cx="3148553" cy="5078313"/>
          </a:xfrm>
          <a:prstGeom prst="rect">
            <a:avLst/>
          </a:prstGeom>
          <a:noFill/>
        </p:spPr>
        <p:txBody>
          <a:bodyPr wrap="square" rtlCol="0">
            <a:spAutoFit/>
          </a:bodyPr>
          <a:lstStyle/>
          <a:p>
            <a:r>
              <a:rPr lang="en-US" dirty="0"/>
              <a:t>Aurion Rise:</a:t>
            </a:r>
          </a:p>
          <a:p>
            <a:pPr marL="285750" indent="-285750">
              <a:buFont typeface="Arial" panose="020B0604020202020204" pitchFamily="34" charset="0"/>
              <a:buChar char="•"/>
            </a:pPr>
            <a:r>
              <a:rPr lang="en-US" dirty="0"/>
              <a:t>Rolling mounds, mountains that divide the magical jungles of danger from the regions of </a:t>
            </a:r>
            <a:r>
              <a:rPr lang="en-US" dirty="0" err="1"/>
              <a:t>Radamle</a:t>
            </a:r>
            <a:r>
              <a:rPr lang="en-US" dirty="0"/>
              <a:t> and </a:t>
            </a:r>
            <a:r>
              <a:rPr lang="en-US" dirty="0" err="1"/>
              <a:t>Gerconia</a:t>
            </a:r>
            <a:r>
              <a:rPr lang="en-US" dirty="0"/>
              <a:t>.</a:t>
            </a:r>
          </a:p>
          <a:p>
            <a:r>
              <a:rPr lang="en-US" dirty="0"/>
              <a:t>Fissure or </a:t>
            </a:r>
            <a:r>
              <a:rPr lang="en-US" dirty="0" err="1"/>
              <a:t>Alathor</a:t>
            </a:r>
            <a:r>
              <a:rPr lang="en-US" dirty="0"/>
              <a:t>:</a:t>
            </a:r>
          </a:p>
          <a:p>
            <a:pPr marL="285750" indent="-285750">
              <a:buFont typeface="Arial" panose="020B0604020202020204" pitchFamily="34" charset="0"/>
              <a:buChar char="•"/>
            </a:pPr>
            <a:r>
              <a:rPr lang="en-US" dirty="0"/>
              <a:t>The massive cliffs that divide theses isolated lands in half, into two distinct regions. It is a massive cliff side that defines the elevated </a:t>
            </a:r>
            <a:r>
              <a:rPr lang="en-US" dirty="0" err="1"/>
              <a:t>Gerconia</a:t>
            </a:r>
            <a:r>
              <a:rPr lang="en-US" dirty="0"/>
              <a:t> to the low lying </a:t>
            </a:r>
            <a:r>
              <a:rPr lang="en-US" dirty="0" err="1"/>
              <a:t>Radamle</a:t>
            </a:r>
            <a:r>
              <a:rPr lang="en-US" dirty="0"/>
              <a:t> and </a:t>
            </a:r>
            <a:r>
              <a:rPr lang="en-US" dirty="0" err="1"/>
              <a:t>Nefeli</a:t>
            </a:r>
            <a:r>
              <a:rPr lang="en-US" dirty="0"/>
              <a:t>. Some steep drop-offs, some smoother, regardless that dangerous travel.</a:t>
            </a:r>
          </a:p>
          <a:p>
            <a:endParaRPr lang="en-US" dirty="0"/>
          </a:p>
        </p:txBody>
      </p:sp>
    </p:spTree>
    <p:extLst>
      <p:ext uri="{BB962C8B-B14F-4D97-AF65-F5344CB8AC3E}">
        <p14:creationId xmlns:p14="http://schemas.microsoft.com/office/powerpoint/2010/main" val="3005843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E283-A90A-ED3A-CE6A-CCD2EF263AA1}"/>
              </a:ext>
            </a:extLst>
          </p:cNvPr>
          <p:cNvSpPr>
            <a:spLocks noGrp="1"/>
          </p:cNvSpPr>
          <p:nvPr>
            <p:ph type="title"/>
          </p:nvPr>
        </p:nvSpPr>
        <p:spPr/>
        <p:txBody>
          <a:bodyPr/>
          <a:lstStyle/>
          <a:p>
            <a:r>
              <a:rPr lang="en-US" dirty="0"/>
              <a:t>Far North</a:t>
            </a:r>
          </a:p>
        </p:txBody>
      </p:sp>
      <p:sp>
        <p:nvSpPr>
          <p:cNvPr id="3" name="Content Placeholder 2">
            <a:extLst>
              <a:ext uri="{FF2B5EF4-FFF2-40B4-BE49-F238E27FC236}">
                <a16:creationId xmlns:a16="http://schemas.microsoft.com/office/drawing/2014/main" id="{DB65E224-9FEF-2EF5-C797-1C12026CA3F0}"/>
              </a:ext>
            </a:extLst>
          </p:cNvPr>
          <p:cNvSpPr>
            <a:spLocks noGrp="1"/>
          </p:cNvSpPr>
          <p:nvPr>
            <p:ph idx="1"/>
          </p:nvPr>
        </p:nvSpPr>
        <p:spPr>
          <a:xfrm>
            <a:off x="82550" y="1419225"/>
            <a:ext cx="12039600" cy="2771775"/>
          </a:xfrm>
        </p:spPr>
        <p:txBody>
          <a:bodyPr>
            <a:normAutofit fontScale="77500" lnSpcReduction="20000"/>
          </a:bodyPr>
          <a:lstStyle/>
          <a:p>
            <a:r>
              <a:rPr lang="en-US" sz="1600" b="1" dirty="0"/>
              <a:t>The Glacial Lakes Region:</a:t>
            </a:r>
          </a:p>
          <a:p>
            <a:r>
              <a:rPr lang="en-US" sz="1600" b="1" dirty="0"/>
              <a:t>Physical Features:</a:t>
            </a:r>
          </a:p>
          <a:p>
            <a:pPr>
              <a:buFont typeface="+mj-lt"/>
              <a:buAutoNum type="arabicPeriod"/>
            </a:pPr>
            <a:r>
              <a:rPr lang="en-US" sz="1600" b="1" dirty="0"/>
              <a:t>The Frozen Three</a:t>
            </a:r>
            <a:r>
              <a:rPr lang="en-US" sz="1600" dirty="0"/>
              <a:t>:</a:t>
            </a:r>
          </a:p>
          <a:p>
            <a:pPr marL="742950" lvl="1" indent="-285750">
              <a:buFont typeface="+mj-lt"/>
              <a:buAutoNum type="arabicPeriod"/>
            </a:pPr>
            <a:r>
              <a:rPr lang="en-US" sz="1400" dirty="0"/>
              <a:t>The lakes (we could name them if you’d like) are partially frozen year-round, with massive floating icebergs that shift unpredictably.</a:t>
            </a:r>
          </a:p>
          <a:p>
            <a:pPr marL="742950" lvl="1" indent="-285750">
              <a:buFont typeface="+mj-lt"/>
              <a:buAutoNum type="arabicPeriod"/>
            </a:pPr>
            <a:r>
              <a:rPr lang="en-US" sz="1400" dirty="0"/>
              <a:t>Jagged cliffs surround the lakes, creating natural wind tunnels that amplify the already frigid gusts.</a:t>
            </a:r>
          </a:p>
          <a:p>
            <a:pPr marL="742950" lvl="1" indent="-285750">
              <a:buFont typeface="+mj-lt"/>
              <a:buAutoNum type="arabicPeriod"/>
            </a:pPr>
            <a:r>
              <a:rPr lang="en-US" sz="1400" dirty="0"/>
              <a:t>Narrow, icy paths wind through the cliffs, some leading to dead ends or hidden caves.</a:t>
            </a:r>
          </a:p>
          <a:p>
            <a:pPr>
              <a:buFont typeface="+mj-lt"/>
              <a:buAutoNum type="arabicPeriod"/>
            </a:pPr>
            <a:r>
              <a:rPr lang="en-US" sz="1600" b="1" dirty="0"/>
              <a:t>Floating Icebergs</a:t>
            </a:r>
            <a:r>
              <a:rPr lang="en-US" sz="1600" dirty="0"/>
              <a:t>:</a:t>
            </a:r>
          </a:p>
          <a:p>
            <a:pPr marL="742950" lvl="1" indent="-285750">
              <a:buFont typeface="+mj-lt"/>
              <a:buAutoNum type="arabicPeriod"/>
            </a:pPr>
            <a:r>
              <a:rPr lang="en-US" sz="1400" dirty="0"/>
              <a:t>Some icebergs are stable enough to walk on, while others shift dangerously.</a:t>
            </a:r>
          </a:p>
          <a:p>
            <a:pPr marL="742950" lvl="1" indent="-285750">
              <a:buFont typeface="+mj-lt"/>
              <a:buAutoNum type="arabicPeriod"/>
            </a:pPr>
            <a:r>
              <a:rPr lang="en-US" sz="1400" dirty="0"/>
              <a:t>The largest iceberg, housing the legendary tribe, is said to glow faintly under the moonlight, rumored to be enchanted with ancient magic.</a:t>
            </a:r>
          </a:p>
          <a:p>
            <a:pPr>
              <a:buFont typeface="+mj-lt"/>
              <a:buAutoNum type="arabicPeriod"/>
            </a:pPr>
            <a:r>
              <a:rPr lang="en-US" sz="1600" b="1" dirty="0"/>
              <a:t>Treacherous Valleys</a:t>
            </a:r>
            <a:r>
              <a:rPr lang="en-US" sz="1600" dirty="0"/>
              <a:t>:</a:t>
            </a:r>
          </a:p>
          <a:p>
            <a:pPr marL="742950" lvl="1" indent="-285750">
              <a:buFont typeface="+mj-lt"/>
              <a:buAutoNum type="arabicPeriod"/>
            </a:pPr>
            <a:r>
              <a:rPr lang="en-US" sz="1400" dirty="0"/>
              <a:t>Steep, icy inclines connect the lakes, with avalanche-prone ridges and crevices hidden under snow drifts.</a:t>
            </a:r>
          </a:p>
          <a:p>
            <a:pPr marL="742950" lvl="1" indent="-285750">
              <a:buFont typeface="+mj-lt"/>
              <a:buAutoNum type="arabicPeriod"/>
            </a:pPr>
            <a:r>
              <a:rPr lang="en-US" sz="1400" dirty="0"/>
              <a:t>Illusions caused by the magical storm make navigating these valleys even more perilous.</a:t>
            </a:r>
          </a:p>
          <a:p>
            <a:r>
              <a:rPr lang="en-US" sz="1600" dirty="0" err="1"/>
              <a:t>Waluigi</a:t>
            </a:r>
            <a:r>
              <a:rPr lang="en-US" sz="1600" dirty="0"/>
              <a:t> </a:t>
            </a:r>
            <a:r>
              <a:rPr lang="en-US" sz="1600"/>
              <a:t>Majioni</a:t>
            </a:r>
            <a:endParaRPr lang="en-US" sz="1600" dirty="0"/>
          </a:p>
        </p:txBody>
      </p:sp>
      <p:pic>
        <p:nvPicPr>
          <p:cNvPr id="5" name="Picture 4">
            <a:extLst>
              <a:ext uri="{FF2B5EF4-FFF2-40B4-BE49-F238E27FC236}">
                <a16:creationId xmlns:a16="http://schemas.microsoft.com/office/drawing/2014/main" id="{B92C3068-C4A5-48EE-4B23-D25B43403263}"/>
              </a:ext>
            </a:extLst>
          </p:cNvPr>
          <p:cNvPicPr>
            <a:picLocks noChangeAspect="1"/>
          </p:cNvPicPr>
          <p:nvPr/>
        </p:nvPicPr>
        <p:blipFill>
          <a:blip r:embed="rId2"/>
          <a:stretch>
            <a:fillRect/>
          </a:stretch>
        </p:blipFill>
        <p:spPr>
          <a:xfrm>
            <a:off x="7739062" y="3484563"/>
            <a:ext cx="3758901" cy="3008312"/>
          </a:xfrm>
          <a:prstGeom prst="rect">
            <a:avLst/>
          </a:prstGeom>
        </p:spPr>
      </p:pic>
    </p:spTree>
    <p:extLst>
      <p:ext uri="{BB962C8B-B14F-4D97-AF65-F5344CB8AC3E}">
        <p14:creationId xmlns:p14="http://schemas.microsoft.com/office/powerpoint/2010/main" val="3789827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TotalTime>
  <Words>482</Words>
  <Application>Microsoft Office PowerPoint</Application>
  <PresentationFormat>Widescreen</PresentationFormat>
  <Paragraphs>63</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Gloucester MT Extra Condensed</vt:lpstr>
      <vt:lpstr>Imprint MT Shadow</vt:lpstr>
      <vt:lpstr>Office Theme</vt:lpstr>
      <vt:lpstr>PowerPoint Presentation</vt:lpstr>
      <vt:lpstr>PowerPoint Presentation</vt:lpstr>
      <vt:lpstr>PowerPoint Presentation</vt:lpstr>
      <vt:lpstr>PowerPoint Presentation</vt:lpstr>
      <vt:lpstr>PowerPoint Presentation</vt:lpstr>
      <vt:lpstr>Far North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Orsini</dc:creator>
  <cp:lastModifiedBy>Nicholas Orsini</cp:lastModifiedBy>
  <cp:revision>12</cp:revision>
  <dcterms:created xsi:type="dcterms:W3CDTF">2024-12-27T04:14:14Z</dcterms:created>
  <dcterms:modified xsi:type="dcterms:W3CDTF">2026-05-23T16:51:43Z</dcterms:modified>
</cp:coreProperties>
</file>